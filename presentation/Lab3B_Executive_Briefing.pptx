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Before controls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API Authentication Bypass</c:v>
                  </c:pt>
                  <c:pt idx="1">
                    <c:v>Database Injection</c:v>
                  </c:pt>
                  <c:pt idx="2">
                    <c:v>Session Hijacking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750000</c:v>
                </c:pt>
                <c:pt idx="1">
                  <c:v>31250000</c:v>
                </c:pt>
                <c:pt idx="2">
                  <c:v>3000000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controls</c:v>
                </c:pt>
              </c:strCache>
            </c:strRef>
          </c:tx>
          <c:spPr>
            <a:solidFill>
              <a:srgbClr val="27AE60"/>
            </a:solidFill>
            <a:effectLst/>
          </c:spPr>
          <c:invertIfNegative val="0"/>
          <c:dLbls>
            <c:numFmt formatCode="$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API Authentication Bypass</c:v>
                  </c:pt>
                  <c:pt idx="1">
                    <c:v>Database Injection</c:v>
                  </c:pt>
                  <c:pt idx="2">
                    <c:v>Session Hijacking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75000</c:v>
                </c:pt>
                <c:pt idx="1">
                  <c:v>7812500</c:v>
                </c:pt>
                <c:pt idx="2">
                  <c:v>150000</c:v>
                </c:pt>
              </c:numCache>
            </c:numRef>
          </c:val>
        </c:ser>
        <c:dLbls>
          <c:numFmt formatCode="$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0E0E0"/>
              </a:solidFill>
              <a:prstDash val="solid"/>
              <a:round/>
            </a:ln>
          </c:spPr>
        </c:majorGridlines>
        <c:numFmt formatCode="$#,##0,,&quot;M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1F3864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800600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F8C8D"/>
                </a:solidFill>
              </a:rPr>
              <a:t>SecureBank | Lab 3B | Chioma Ameh C11/26/CGRCE/17567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8C8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8C8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Cyber Risk Quantification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6F2"/>
                </a:solidFill>
              </a:rPr>
              <a:t>Executive briefing for the CISO and CFO: SecureBank mobile banking platform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11480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2"/>
                </a:solidFill>
              </a:rPr>
              <a:t>Chioma Ameh | C11/26/CGRCE/17567 | GRC102 Lab 3B | 29 October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are exposed to about $35.0M a year</a:t>
            </a:r>
            <a:endParaRPr lang="en-US" sz="24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463040"/>
                <a:gridCol w="1280160"/>
                <a:gridCol w="1828800"/>
                <a:gridCol w="100584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incident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Chance per 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Expected loss / 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Priority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Database Injection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$125,000,000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$31,250,000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Session Hijacking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$7,500,000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$3,000,000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High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API Authentication Bypass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$5,000,000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B9770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22222"/>
                </a:solidFill>
              </a:rPr>
              <a:t>Database injection alone is 89% of the exposure: one incident costs $125M and we expect one about every four years.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8C8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controls remove 77% of that exposure</a:t>
            </a:r>
            <a:endParaRPr lang="en-US" sz="24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852160" y="13716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</a:rPr>
              <a:t>$35.00M to $8.04M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yearly exposure before and after controls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27AE60"/>
                </a:solidFill>
              </a:rPr>
              <a:t>$26,962,500 a year</a:t>
            </a:r>
            <a:endParaRPr lang="en-US" sz="2200" dirty="0"/>
          </a:p>
          <a:p>
            <a:pPr indent="0" marL="0">
              <a:buNone/>
            </a:pPr>
            <a:r>
              <a:rPr lang="en-US" sz="1200" dirty="0">
                <a:solidFill>
                  <a:srgbClr val="595959"/>
                </a:solidFill>
              </a:rPr>
              <a:t>risk removed ($26,857,500 after running costs)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8C8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return is large, and the WAF leads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2651760"/>
          </a:xfrm>
          <a:prstGeom prst="rect">
            <a:avLst/>
          </a:prstGeom>
          <a:solidFill>
            <a:srgbClr val="EEF3F9"/>
          </a:solidFill>
          <a:ln w="12700">
            <a:solidFill>
              <a:srgbClr val="EEF3F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</a:rPr>
              <a:t>WAF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45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AE60"/>
                </a:solidFill>
              </a:rPr>
              <a:t>13,293%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</a:rPr>
              <a:t>Year-1 ROI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</a:rPr>
              <a:t>2.3 days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154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payback  |  cost $150,000 + $25,000/yr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1840" y="1097280"/>
            <a:ext cx="2651760" cy="2651760"/>
          </a:xfrm>
          <a:prstGeom prst="rect">
            <a:avLst/>
          </a:prstGeom>
          <a:solidFill>
            <a:srgbClr val="EEF3F9"/>
          </a:solidFill>
          <a:ln w="12700">
            <a:solidFill>
              <a:srgbClr val="EEF3F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74720" y="1188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</a:rPr>
              <a:t>MFA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1645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AE60"/>
                </a:solidFill>
              </a:rPr>
              <a:t>1,139%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</a:rPr>
              <a:t>Year-1 ROI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</a:rPr>
              <a:t>25.9 days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3154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payback  |  cost $200,000 + $30,000/yr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51760" cy="2651760"/>
          </a:xfrm>
          <a:prstGeom prst="rect">
            <a:avLst/>
          </a:prstGeom>
          <a:solidFill>
            <a:srgbClr val="EEF3F9"/>
          </a:solidFill>
          <a:ln w="12700">
            <a:solidFill>
              <a:srgbClr val="EEF3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309360" y="118872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</a:rPr>
              <a:t>API Gateway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16459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7AE60"/>
                </a:solidFill>
              </a:rPr>
              <a:t>69%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22860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</a:rPr>
              <a:t>Year-1 ROI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26974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</a:rPr>
              <a:t>6.7 months</a:t>
            </a:r>
            <a:endParaRPr lang="en-US" sz="2200" dirty="0"/>
          </a:p>
        </p:txBody>
      </p:sp>
      <p:sp>
        <p:nvSpPr>
          <p:cNvPr id="20" name="Text 18"/>
          <p:cNvSpPr txBox="1"/>
          <p:nvPr/>
        </p:nvSpPr>
        <p:spPr>
          <a:xfrm>
            <a:off x="6309360" y="31546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</a:rPr>
              <a:t>payback  |  cost $350,000 + $50,000/yr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0233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</a:rPr>
              <a:t>Whole programme: $700,000 up front, Year-1 ROI 3,249%, paid back in about 9.5 days.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8C8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the budget is capped, buy WAF + MFA first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228600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Budget limit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Best selection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Risk removed / year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maximum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864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$150,000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WAF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$23,437,500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WAF only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$23,437,500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$350,000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WAF + MFA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$26,287,500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WAF + MFA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$26,287,500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$550,000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WAF + MFA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$26,287,500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97.5%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$700,000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All three controls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$26,962,500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100.0%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3657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At $350,000 WAF + MFA already removes 97.5% of what all three controls achieve. The API gateway adds $675,000 a year but only fits once the budget reaches $700,000, so it can wait until Year 2.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8C8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Roadmap: 30 days, 90 days, one year</a:t>
            </a:r>
            <a:endParaRPr lang="en-US" sz="2400" dirty="0"/>
          </a:p>
        </p:txBody>
      </p:sp>
      <p:pic>
        <p:nvPicPr>
          <p:cNvPr id="3" name="Image 0" descr="/mnt/user-data/outputs/charts/10_gant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005840"/>
            <a:ext cx="7863840" cy="3776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8C8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requested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82296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Approve $700,000 capital and $105,000 a year for WAF, MFA and the API gateway, funded in that order.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If spending is capped at $500,000, approve WAF + MFA now ($350,000) and revisit the API gateway in Year 2.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Name an owner for each Priority 1 action in the first 30 days.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</a:rPr>
              <a:t>Re-test and re-quantify after 12 months to confirm the controls work as assumed.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3566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95959"/>
                </a:solidFill>
              </a:rPr>
              <a:t>Read as estimates: probability is treated as a yearly rate, loss and effectiveness figures come from the lab sheet, and MFA's 95% may be optimistic for stolen sessions. Full assumptions are in the report.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7F8C8D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iskBrief">
  <a:themeElements>
    <a:clrScheme name="RiskBrief">
      <a:dk1>
        <a:srgbClr val="222222"/>
      </a:dk1>
      <a:lt1>
        <a:srgbClr val="FFFFFF"/>
      </a:lt1>
      <a:dk2>
        <a:srgbClr val="1F3864"/>
      </a:dk2>
      <a:lt2>
        <a:srgbClr val="EEF3F9"/>
      </a:lt2>
      <a:accent1>
        <a:srgbClr val="1F3864"/>
      </a:accent1>
      <a:accent2>
        <a:srgbClr val="2E86C1"/>
      </a:accent2>
      <a:accent3>
        <a:srgbClr val="C0392B"/>
      </a:accent3>
      <a:accent4>
        <a:srgbClr val="27AE60"/>
      </a:accent4>
      <a:accent5>
        <a:srgbClr val="F39C12"/>
      </a:accent5>
      <a:accent6>
        <a:srgbClr val="7F8C8D"/>
      </a:accent6>
      <a:hlink>
        <a:srgbClr val="2E86C1"/>
      </a:hlink>
      <a:folHlink>
        <a:srgbClr val="7F8C8D"/>
      </a:folHlink>
    </a:clrScheme>
    <a:fontScheme name="RiskBrief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3B Executive Briefing</dc:title>
  <dc:subject>PptxGenJS Presentation</dc:subject>
  <dc:creator>Chioma Ameh</dc:creator>
  <cp:lastModifiedBy>Chioma Ameh</cp:lastModifiedBy>
  <cp:revision>1</cp:revision>
  <dcterms:created xsi:type="dcterms:W3CDTF">2026-10-30T10:27:09Z</dcterms:created>
  <dcterms:modified xsi:type="dcterms:W3CDTF">2026-10-30T10:27:09Z</dcterms:modified>
</cp:coreProperties>
</file>